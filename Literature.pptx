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Dold" initials="DD" lastIdx="1" clrIdx="0">
    <p:extLst>
      <p:ext uri="{19B8F6BF-5375-455C-9EA6-DF929625EA0E}">
        <p15:presenceInfo xmlns:p15="http://schemas.microsoft.com/office/powerpoint/2012/main" userId="f2e3d405450aa2f4" providerId="Windows Live"/>
      </p:ext>
    </p:extLst>
  </p:cmAuthor>
  <p:cmAuthor id="2" name="Dold, Dominik (T RDA BAM SMR-DE)" initials="DD(RBS" lastIdx="3" clrIdx="1">
    <p:extLst>
      <p:ext uri="{19B8F6BF-5375-455C-9EA6-DF929625EA0E}">
        <p15:presenceInfo xmlns:p15="http://schemas.microsoft.com/office/powerpoint/2012/main" userId="S::dominik.dold@siemens.com::e3b83538-190a-41c4-93a1-78a811c24d5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347"/>
    <a:srgbClr val="878787"/>
    <a:srgbClr val="008B8B"/>
    <a:srgbClr val="B22222"/>
    <a:srgbClr val="1F4E79"/>
    <a:srgbClr val="646363"/>
    <a:srgbClr val="4169E1"/>
    <a:srgbClr val="FED481"/>
    <a:srgbClr val="9E0343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D4AAA1-8E42-4AF4-B527-1483AD134114}" v="28" dt="2026-01-14T16:00:11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81638" autoAdjust="0"/>
  </p:normalViewPr>
  <p:slideViewPr>
    <p:cSldViewPr snapToGrid="0">
      <p:cViewPr varScale="1">
        <p:scale>
          <a:sx n="131" d="100"/>
          <a:sy n="131" d="100"/>
        </p:scale>
        <p:origin x="1800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Dold" userId="f2e3d405450aa2f4" providerId="LiveId" clId="{5805CB45-291F-49AE-A1B6-715AA1DB6F91}"/>
    <pc:docChg chg="undo redo custSel addSld delSld modSld sldOrd">
      <pc:chgData name="Dominik Dold" userId="f2e3d405450aa2f4" providerId="LiveId" clId="{5805CB45-291F-49AE-A1B6-715AA1DB6F91}" dt="2026-01-14T16:00:30.315" v="7316" actId="20577"/>
      <pc:docMkLst>
        <pc:docMk/>
      </pc:docMkLst>
      <pc:sldChg chg="addSp delSp modSp mod">
        <pc:chgData name="Dominik Dold" userId="f2e3d405450aa2f4" providerId="LiveId" clId="{5805CB45-291F-49AE-A1B6-715AA1DB6F91}" dt="2026-01-09T14:01:29.624" v="6537" actId="20577"/>
        <pc:sldMkLst>
          <pc:docMk/>
          <pc:sldMk cId="2307729301" sldId="257"/>
        </pc:sldMkLst>
        <pc:spChg chg="mod">
          <ac:chgData name="Dominik Dold" userId="f2e3d405450aa2f4" providerId="LiveId" clId="{5805CB45-291F-49AE-A1B6-715AA1DB6F91}" dt="2026-01-09T14:01:29.624" v="6537" actId="20577"/>
          <ac:spMkLst>
            <pc:docMk/>
            <pc:sldMk cId="2307729301" sldId="257"/>
            <ac:spMk id="2" creationId="{36AAF9B9-31D5-6E21-F72C-2E7F972A4E02}"/>
          </ac:spMkLst>
        </pc:spChg>
      </pc:sldChg>
      <pc:sldChg chg="modSp mod">
        <pc:chgData name="Dominik Dold" userId="f2e3d405450aa2f4" providerId="LiveId" clId="{5805CB45-291F-49AE-A1B6-715AA1DB6F91}" dt="2026-01-09T14:01:41.033" v="6551" actId="20577"/>
        <pc:sldMkLst>
          <pc:docMk/>
          <pc:sldMk cId="1008332252" sldId="258"/>
        </pc:sldMkLst>
        <pc:spChg chg="mod">
          <ac:chgData name="Dominik Dold" userId="f2e3d405450aa2f4" providerId="LiveId" clId="{5805CB45-291F-49AE-A1B6-715AA1DB6F91}" dt="2026-01-09T14:01:41.033" v="6551" actId="20577"/>
          <ac:spMkLst>
            <pc:docMk/>
            <pc:sldMk cId="1008332252" sldId="258"/>
            <ac:spMk id="2" creationId="{39B0E883-5E6B-3726-D87D-BD62A6339FC3}"/>
          </ac:spMkLst>
        </pc:spChg>
      </pc:sldChg>
      <pc:sldChg chg="addSp delSp modSp mod">
        <pc:chgData name="Dominik Dold" userId="f2e3d405450aa2f4" providerId="LiveId" clId="{5805CB45-291F-49AE-A1B6-715AA1DB6F91}" dt="2026-01-09T14:15:21.193" v="7195" actId="114"/>
        <pc:sldMkLst>
          <pc:docMk/>
          <pc:sldMk cId="1889857844" sldId="259"/>
        </pc:sldMkLst>
        <pc:spChg chg="mod">
          <ac:chgData name="Dominik Dold" userId="f2e3d405450aa2f4" providerId="LiveId" clId="{5805CB45-291F-49AE-A1B6-715AA1DB6F91}" dt="2026-01-09T14:02:55.938" v="6662" actId="20577"/>
          <ac:spMkLst>
            <pc:docMk/>
            <pc:sldMk cId="1889857844" sldId="259"/>
            <ac:spMk id="2" creationId="{EF521A59-D5BD-B65C-9C1B-B71A4BFF2B69}"/>
          </ac:spMkLst>
        </pc:spChg>
        <pc:spChg chg="add mod">
          <ac:chgData name="Dominik Dold" userId="f2e3d405450aa2f4" providerId="LiveId" clId="{5805CB45-291F-49AE-A1B6-715AA1DB6F91}" dt="2026-01-09T14:15:21.193" v="7195" actId="114"/>
          <ac:spMkLst>
            <pc:docMk/>
            <pc:sldMk cId="1889857844" sldId="259"/>
            <ac:spMk id="4" creationId="{230F764B-E9A5-529E-6ACC-59803EA7CCA7}"/>
          </ac:spMkLst>
        </pc:spChg>
      </pc:sldChg>
      <pc:sldChg chg="modSp mod">
        <pc:chgData name="Dominik Dold" userId="f2e3d405450aa2f4" providerId="LiveId" clId="{5805CB45-291F-49AE-A1B6-715AA1DB6F91}" dt="2026-01-09T14:01:53.456" v="6601" actId="20577"/>
        <pc:sldMkLst>
          <pc:docMk/>
          <pc:sldMk cId="3953221769" sldId="260"/>
        </pc:sldMkLst>
        <pc:spChg chg="mod">
          <ac:chgData name="Dominik Dold" userId="f2e3d405450aa2f4" providerId="LiveId" clId="{5805CB45-291F-49AE-A1B6-715AA1DB6F91}" dt="2026-01-09T14:01:53.456" v="6601" actId="20577"/>
          <ac:spMkLst>
            <pc:docMk/>
            <pc:sldMk cId="3953221769" sldId="260"/>
            <ac:spMk id="2" creationId="{1C87E825-2465-1669-A2FA-CDBB786B1E5C}"/>
          </ac:spMkLst>
        </pc:spChg>
      </pc:sldChg>
      <pc:sldChg chg="modSp add mod">
        <pc:chgData name="Dominik Dold" userId="f2e3d405450aa2f4" providerId="LiveId" clId="{5805CB45-291F-49AE-A1B6-715AA1DB6F91}" dt="2026-01-14T16:00:09.494" v="7291" actId="20577"/>
        <pc:sldMkLst>
          <pc:docMk/>
          <pc:sldMk cId="2509595524" sldId="261"/>
        </pc:sldMkLst>
        <pc:spChg chg="mod">
          <ac:chgData name="Dominik Dold" userId="f2e3d405450aa2f4" providerId="LiveId" clId="{5805CB45-291F-49AE-A1B6-715AA1DB6F91}" dt="2026-01-14T15:59:19.802" v="7217" actId="20577"/>
          <ac:spMkLst>
            <pc:docMk/>
            <pc:sldMk cId="2509595524" sldId="261"/>
            <ac:spMk id="2" creationId="{752B0197-0450-8B96-B304-2FF66B4EE381}"/>
          </ac:spMkLst>
        </pc:spChg>
        <pc:spChg chg="mod">
          <ac:chgData name="Dominik Dold" userId="f2e3d405450aa2f4" providerId="LiveId" clId="{5805CB45-291F-49AE-A1B6-715AA1DB6F91}" dt="2026-01-14T16:00:09.494" v="7291" actId="20577"/>
          <ac:spMkLst>
            <pc:docMk/>
            <pc:sldMk cId="2509595524" sldId="261"/>
            <ac:spMk id="4" creationId="{44D87D41-E050-610A-0B2A-7A04EDE36DC3}"/>
          </ac:spMkLst>
        </pc:spChg>
      </pc:sldChg>
      <pc:sldChg chg="modSp add mod">
        <pc:chgData name="Dominik Dold" userId="f2e3d405450aa2f4" providerId="LiveId" clId="{5805CB45-291F-49AE-A1B6-715AA1DB6F91}" dt="2026-01-14T16:00:30.315" v="7316" actId="20577"/>
        <pc:sldMkLst>
          <pc:docMk/>
          <pc:sldMk cId="591784363" sldId="262"/>
        </pc:sldMkLst>
        <pc:spChg chg="mod">
          <ac:chgData name="Dominik Dold" userId="f2e3d405450aa2f4" providerId="LiveId" clId="{5805CB45-291F-49AE-A1B6-715AA1DB6F91}" dt="2026-01-14T16:00:30.315" v="7316" actId="20577"/>
          <ac:spMkLst>
            <pc:docMk/>
            <pc:sldMk cId="591784363" sldId="262"/>
            <ac:spMk id="2" creationId="{D9ECA228-2337-C20B-4945-4719C7E8D620}"/>
          </ac:spMkLst>
        </pc:spChg>
        <pc:spChg chg="mod">
          <ac:chgData name="Dominik Dold" userId="f2e3d405450aa2f4" providerId="LiveId" clId="{5805CB45-291F-49AE-A1B6-715AA1DB6F91}" dt="2026-01-14T16:00:23.380" v="7315" actId="20577"/>
          <ac:spMkLst>
            <pc:docMk/>
            <pc:sldMk cId="591784363" sldId="262"/>
            <ac:spMk id="4" creationId="{C6D01D98-C264-EF32-ED6F-9EBB1CF85B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CE08E-FD48-4ABE-9805-2EBFDE106AB3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B3B47-E9D1-4DC9-BA97-9D4F9818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09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403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D47F-8211-7245-CBA3-6745F0F2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4E772-2FB9-E75D-FE54-F73A02376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71CB4-F9CE-4179-B67D-9458DA3FC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9EEEE-D6AB-BD42-A974-7DDAC474A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101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6B86-DE10-2C9C-5F47-107610987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97023-31B1-87BE-900A-5AC073AE8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21BF9-0372-BA34-88CC-4CD110AC8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A38BF-7901-964F-FB95-3615BBDB6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87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pic>
        <p:nvPicPr>
          <p:cNvPr id="1028" name="Picture 4" descr="Data Science @ Uni Vienna">
            <a:extLst>
              <a:ext uri="{FF2B5EF4-FFF2-40B4-BE49-F238E27FC236}">
                <a16:creationId xmlns:a16="http://schemas.microsoft.com/office/drawing/2014/main" id="{04D2D794-85F5-7CD7-4A77-992CEEAB3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79327"/>
            <a:ext cx="7298267" cy="30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1E390-ECDD-CE6E-9367-DE8D21DB2F41}"/>
              </a:ext>
            </a:extLst>
          </p:cNvPr>
          <p:cNvSpPr txBox="1"/>
          <p:nvPr userDrawn="1"/>
        </p:nvSpPr>
        <p:spPr>
          <a:xfrm>
            <a:off x="259080" y="86380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 of Data Science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B0B7C-0D14-E6B2-C871-A2C642F5419D}"/>
              </a:ext>
            </a:extLst>
          </p:cNvPr>
          <p:cNvSpPr txBox="1"/>
          <p:nvPr userDrawn="1"/>
        </p:nvSpPr>
        <p:spPr>
          <a:xfrm>
            <a:off x="7298266" y="590186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University of Vienna,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WiSe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2025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94799-5FA7-268F-965B-42C585B4C68D}"/>
              </a:ext>
            </a:extLst>
          </p:cNvPr>
          <p:cNvSpPr txBox="1"/>
          <p:nvPr userDrawn="1"/>
        </p:nvSpPr>
        <p:spPr>
          <a:xfrm>
            <a:off x="259080" y="319816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Lecturer: Dominik Dold</a:t>
            </a:r>
            <a:endParaRPr lang="en-AT" sz="2400" b="1" dirty="0">
              <a:solidFill>
                <a:schemeClr val="accent5">
                  <a:lumMod val="50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DB9A7-BB84-C6CF-3F68-20EEF0340673}"/>
              </a:ext>
            </a:extLst>
          </p:cNvPr>
          <p:cNvSpPr txBox="1"/>
          <p:nvPr userDrawn="1"/>
        </p:nvSpPr>
        <p:spPr>
          <a:xfrm>
            <a:off x="7298266" y="624471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Master’s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programme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 Data Science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5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2891" y="-119587"/>
            <a:ext cx="11314444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1" y="652872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fld id="{CC491BDB-77F2-4EF0-887C-9DE66058451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DAD9EC-3917-A6B5-BFC0-78CFC508B2ED}"/>
              </a:ext>
            </a:extLst>
          </p:cNvPr>
          <p:cNvCxnSpPr>
            <a:cxnSpLocks/>
          </p:cNvCxnSpPr>
          <p:nvPr userDrawn="1"/>
        </p:nvCxnSpPr>
        <p:spPr>
          <a:xfrm>
            <a:off x="305079" y="891868"/>
            <a:ext cx="11314444" cy="0"/>
          </a:xfrm>
          <a:prstGeom prst="line">
            <a:avLst/>
          </a:prstGeom>
          <a:ln w="53975" cap="rnd" cmpd="sng">
            <a:gradFill flip="none" rotWithShape="1">
              <a:gsLst>
                <a:gs pos="0">
                  <a:srgbClr val="191D43"/>
                </a:gs>
                <a:gs pos="34000">
                  <a:srgbClr val="191D43"/>
                </a:gs>
                <a:gs pos="62000">
                  <a:srgbClr val="191D43">
                    <a:alpha val="55000"/>
                  </a:srgbClr>
                </a:gs>
                <a:gs pos="86000">
                  <a:srgbClr val="191D43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9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image of a brain&#10;&#10;Description automatically generated">
            <a:extLst>
              <a:ext uri="{FF2B5EF4-FFF2-40B4-BE49-F238E27FC236}">
                <a16:creationId xmlns:a16="http://schemas.microsoft.com/office/drawing/2014/main" id="{8019FAC9-9AF7-E084-7654-F3C01ADF70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9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33E148-CF42-4205-B6F8-3B728CF7C4C5}"/>
              </a:ext>
            </a:extLst>
          </p:cNvPr>
          <p:cNvSpPr/>
          <p:nvPr userDrawn="1"/>
        </p:nvSpPr>
        <p:spPr>
          <a:xfrm>
            <a:off x="0" y="-21507"/>
            <a:ext cx="12191998" cy="3336207"/>
          </a:xfrm>
          <a:prstGeom prst="rect">
            <a:avLst/>
          </a:prstGeom>
          <a:gradFill flip="none" rotWithShape="1">
            <a:gsLst>
              <a:gs pos="0">
                <a:srgbClr val="E3EEF8">
                  <a:lumMod val="0"/>
                  <a:lumOff val="100000"/>
                </a:srgbClr>
              </a:gs>
              <a:gs pos="44000">
                <a:schemeClr val="accent1">
                  <a:alpha val="85000"/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9D05B-973C-1FB5-7278-033AF9D8F9A2}"/>
              </a:ext>
            </a:extLst>
          </p:cNvPr>
          <p:cNvSpPr/>
          <p:nvPr userDrawn="1"/>
        </p:nvSpPr>
        <p:spPr>
          <a:xfrm rot="10800000">
            <a:off x="0" y="3314699"/>
            <a:ext cx="12191998" cy="3550469"/>
          </a:xfrm>
          <a:prstGeom prst="rect">
            <a:avLst/>
          </a:prstGeom>
          <a:gradFill flip="none" rotWithShape="1">
            <a:gsLst>
              <a:gs pos="0">
                <a:srgbClr val="E3EEF8">
                  <a:lumMod val="0"/>
                  <a:lumOff val="100000"/>
                </a:srgbClr>
              </a:gs>
              <a:gs pos="44000">
                <a:schemeClr val="accent1">
                  <a:alpha val="85000"/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52A333-6028-3FFA-E937-DF521D2EF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144" y="2651917"/>
            <a:ext cx="5065709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</p:spTree>
    <p:extLst>
      <p:ext uri="{BB962C8B-B14F-4D97-AF65-F5344CB8AC3E}">
        <p14:creationId xmlns:p14="http://schemas.microsoft.com/office/powerpoint/2010/main" val="251546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C79674F-EEE7-A3F7-E7B6-E090E34DAE7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F97D08-59F5-690E-D135-2A5264455D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1ACB7E-6B9B-F069-4767-E614377BA33D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pic>
        <p:nvPicPr>
          <p:cNvPr id="7" name="Picture 6" descr="A brain with circuit board&#10;&#10;Description automatically generated">
            <a:extLst>
              <a:ext uri="{FF2B5EF4-FFF2-40B4-BE49-F238E27FC236}">
                <a16:creationId xmlns:a16="http://schemas.microsoft.com/office/drawing/2014/main" id="{71D72719-C124-A965-D48D-9233DB44E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1" b="2614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6C7911-7E19-CC38-D210-8AA48256FC58}"/>
              </a:ext>
            </a:extLst>
          </p:cNvPr>
          <p:cNvSpPr/>
          <p:nvPr userDrawn="1"/>
        </p:nvSpPr>
        <p:spPr>
          <a:xfrm>
            <a:off x="1" y="-7169"/>
            <a:ext cx="12191999" cy="6858000"/>
          </a:xfrm>
          <a:prstGeom prst="rect">
            <a:avLst/>
          </a:prstGeom>
          <a:gradFill flip="none" rotWithShape="1">
            <a:gsLst>
              <a:gs pos="42000">
                <a:srgbClr val="FBFDFE">
                  <a:alpha val="84000"/>
                </a:srgbClr>
              </a:gs>
              <a:gs pos="0">
                <a:srgbClr val="E3EEF8">
                  <a:lumMod val="0"/>
                  <a:lumOff val="100000"/>
                </a:srgbClr>
              </a:gs>
              <a:gs pos="62000">
                <a:schemeClr val="accent1">
                  <a:lumMod val="5000"/>
                  <a:lumOff val="95000"/>
                  <a:alpha val="71000"/>
                </a:schemeClr>
              </a:gs>
              <a:gs pos="55000">
                <a:schemeClr val="accent1">
                  <a:lumMod val="30000"/>
                  <a:lumOff val="70000"/>
                  <a:alpha val="0"/>
                </a:schemeClr>
              </a:gs>
            </a:gsLst>
            <a:lin ang="180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7533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04763"/>
                </a:solidFill>
              </a:defRPr>
            </a:lvl1pPr>
          </a:lstStyle>
          <a:p>
            <a:r>
              <a:rPr lang="en-GB" sz="4400" b="1" dirty="0">
                <a:solidFill>
                  <a:srgbClr val="700000"/>
                </a:solidFill>
              </a:rPr>
              <a:t>And nothing else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3D7D-A06C-4DE9-992B-5B65F53834D9}" type="datetime1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60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38C1-9379-4361-9946-D3680B7F47FE}" type="datetime1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5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243E-F364-48F3-BBAD-37A743E237B4}" type="datetime1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C75F848-CC64-48D8-80EC-4DCB6841C39A}"/>
              </a:ext>
            </a:extLst>
          </p:cNvPr>
          <p:cNvCxnSpPr>
            <a:cxnSpLocks/>
          </p:cNvCxnSpPr>
          <p:nvPr userDrawn="1"/>
        </p:nvCxnSpPr>
        <p:spPr>
          <a:xfrm>
            <a:off x="840375" y="1452057"/>
            <a:ext cx="10507806" cy="0"/>
          </a:xfrm>
          <a:prstGeom prst="line">
            <a:avLst/>
          </a:prstGeom>
          <a:ln w="38100" cap="rnd" cmpd="sng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9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8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CC01-3EBF-4DED-A29A-5DE22DB44D36}" type="datetime1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30051-C6DB-4954-8A39-7BBB06410C9B}" type="datetime1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9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210B-129B-4959-BC37-B5393D6AEA88}" type="datetime1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E41D-2DBF-4108-A0A6-B66ADCBB53B9}" type="datetime1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9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CDC136D-BBC1-4797-AC59-38B61BEC7FD1}" type="datetime1">
              <a:rPr lang="en-GB" smtClean="0"/>
              <a:t>14/01/2026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919525-E890-AB35-6708-B0FE1DB1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B9D883-0E54-23DE-2184-3F413ECDD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FE272-A65B-4EA4-AEA8-D88D698DA1CE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761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2" r:id="rId2"/>
    <p:sldLayoutId id="2147483737" r:id="rId3"/>
    <p:sldLayoutId id="2147483733" r:id="rId4"/>
    <p:sldLayoutId id="2147483734" r:id="rId5"/>
    <p:sldLayoutId id="2147483735" r:id="rId6"/>
    <p:sldLayoutId id="2147483736" r:id="rId7"/>
    <p:sldLayoutId id="2147483742" r:id="rId8"/>
    <p:sldLayoutId id="2147483738" r:id="rId9"/>
    <p:sldLayoutId id="2147483739" r:id="rId10"/>
    <p:sldLayoutId id="2147483740" r:id="rId11"/>
    <p:sldLayoutId id="214748374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cornell.edu/info2040/2022/11/10/the-monty-hall-problem-using-bayes-theorem/" TargetMode="External"/><Relationship Id="rId2" Type="http://schemas.openxmlformats.org/officeDocument/2006/relationships/hyperlink" Target="https://heibox.uni-heidelberg.de/d/0a433e42dbeb4d2eb6a4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r248.medium.com/statistical-learning-theory-hoeffdings-inequality-derivation-simulation-e3a97100d14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bc.ca/~nickhar/W12/Lecture6Notes.pdf" TargetMode="External"/><Relationship Id="rId2" Type="http://schemas.openxmlformats.org/officeDocument/2006/relationships/hyperlink" Target="https://people.math.ethz.ch/~abandeira/BandeiraSingerStrohmer-MDS-draf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ople.csail.mit.edu/dsontag/courses/ml14/notes/Luxburg07_tutorial_spectral_clustering.pdf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1710.02971" TargetMode="External"/><Relationship Id="rId3" Type="http://schemas.openxmlformats.org/officeDocument/2006/relationships/hyperlink" Target="https://doi.org/10.1109/MC.2009.263" TargetMode="External"/><Relationship Id="rId7" Type="http://schemas.openxmlformats.org/officeDocument/2006/relationships/hyperlink" Target="https://papers.nips.cc/paper_files/paper/2014/hash/b78666971ceae55a8e87efb7cbfd9ad4-Abstract.html" TargetMode="External"/><Relationship Id="rId2" Type="http://schemas.openxmlformats.org/officeDocument/2006/relationships/hyperlink" Target="https://people.math.ethz.ch/~abandeira/BandeiraSingerStrohmer-MDS-draf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48550/arXiv.1403.6652" TargetMode="External"/><Relationship Id="rId11" Type="http://schemas.openxmlformats.org/officeDocument/2006/relationships/hyperlink" Target="https://graph-neural-networks.github.io/static/file/chapter5.pdf" TargetMode="External"/><Relationship Id="rId5" Type="http://schemas.openxmlformats.org/officeDocument/2006/relationships/hyperlink" Target="https://papers.nips.cc/paper/1861-algorithms-for-non-negative-matrix-factorization" TargetMode="External"/><Relationship Id="rId10" Type="http://schemas.openxmlformats.org/officeDocument/2006/relationships/hyperlink" Target="https://doi.org/10.48550/arXiv.1810.00826" TargetMode="External"/><Relationship Id="rId4" Type="http://schemas.openxmlformats.org/officeDocument/2006/relationships/hyperlink" Target="https://sifter.org/~simon/journal/20061211.html" TargetMode="External"/><Relationship Id="rId9" Type="http://schemas.openxmlformats.org/officeDocument/2006/relationships/hyperlink" Target="http://www.openreview.net/pdf?id=BkxSmlBFv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7.18384" TargetMode="External"/><Relationship Id="rId7" Type="http://schemas.openxmlformats.org/officeDocument/2006/relationships/hyperlink" Target="https://stevenbuchanan.net/posts/weierstrass-approximatio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eople.math.sc.edu/schep/weierstrass.pdf" TargetMode="External"/><Relationship Id="rId5" Type="http://schemas.openxmlformats.org/officeDocument/2006/relationships/hyperlink" Target="https://nonagon.org/ExLibris/bernstein-proves-weierstrass" TargetMode="External"/><Relationship Id="rId4" Type="http://schemas.openxmlformats.org/officeDocument/2006/relationships/hyperlink" Target="https://chinmayhegde.github.io/fodl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7.1838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jt.cs.illinois.edu/dlt/" TargetMode="External"/><Relationship Id="rId4" Type="http://schemas.openxmlformats.org/officeDocument/2006/relationships/hyperlink" Target="https://chinmayhegde.github.io/fodl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7.1838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C623FA-D60C-2925-BFA7-1CF01C1D405C}"/>
              </a:ext>
            </a:extLst>
          </p:cNvPr>
          <p:cNvSpPr txBox="1"/>
          <p:nvPr/>
        </p:nvSpPr>
        <p:spPr>
          <a:xfrm>
            <a:off x="10094656" y="6576367"/>
            <a:ext cx="2316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0" dirty="0">
                <a:solidFill>
                  <a:schemeClr val="bg2">
                    <a:lumMod val="75000"/>
                  </a:schemeClr>
                </a:solidFill>
                <a:effectLst/>
                <a:latin typeface="Beaufort for LOL" panose="02020503050000020004" pitchFamily="18" charset="0"/>
                <a:cs typeface="Beaufort for LOL" panose="02020503050000020004" pitchFamily="18" charset="0"/>
              </a:rPr>
              <a:t>Credit: </a:t>
            </a:r>
            <a:r>
              <a:rPr lang="en-GB" sz="1200" dirty="0" err="1">
                <a:solidFill>
                  <a:schemeClr val="bg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Freepik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 -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Rochak Shukla</a:t>
            </a:r>
          </a:p>
          <a:p>
            <a:endParaRPr lang="en-AT" sz="1200" dirty="0">
              <a:solidFill>
                <a:schemeClr val="bg2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2C87C-42C9-5D83-F25A-09C72E6C5AA9}"/>
              </a:ext>
            </a:extLst>
          </p:cNvPr>
          <p:cNvSpPr txBox="1"/>
          <p:nvPr/>
        </p:nvSpPr>
        <p:spPr>
          <a:xfrm>
            <a:off x="259080" y="217476"/>
            <a:ext cx="906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0 – Literature</a:t>
            </a:r>
            <a:endParaRPr lang="en-AT" sz="36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pic>
        <p:nvPicPr>
          <p:cNvPr id="2" name="Picture 2" descr="Book sketch Images - Free Download on Freepik">
            <a:extLst>
              <a:ext uri="{FF2B5EF4-FFF2-40B4-BE49-F238E27FC236}">
                <a16:creationId xmlns:a16="http://schemas.microsoft.com/office/drawing/2014/main" id="{75A76C1C-9D61-56ED-B4A3-45D2058FF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40641"/>
            <a:ext cx="4477657" cy="338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93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F9B9-31D5-6E21-F72C-2E7F972A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– Foundations of Probability Theory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AE630-76EF-0BC0-300E-83A14FA8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C44E5-8734-5CBA-4DF5-4DCABF126B7A}"/>
              </a:ext>
            </a:extLst>
          </p:cNvPr>
          <p:cNvSpPr txBox="1"/>
          <p:nvPr/>
        </p:nvSpPr>
        <p:spPr>
          <a:xfrm>
            <a:off x="77521" y="1045468"/>
            <a:ext cx="12114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Björn Malte Schäfer.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Lecture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notes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on „Computational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Statistics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and Data Analysis“.</a:t>
            </a:r>
            <a:b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2"/>
              </a:rPr>
              <a:t>https://heibox.uni-heidelberg.de/d/0a433e42dbeb4d2eb6a4/</a:t>
            </a:r>
            <a:endParaRPr lang="de-DE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https://blogs.cornell.edu/info2040/2022/11/10/the-monty-hall-problem-using-bayes-theorem/</a:t>
            </a:r>
            <a:endParaRPr lang="de-DE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Andrew Rothman, „Statistical Learning Theory Part 1: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Hoeffding‘s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Inequality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Derivation &amp; Simulation“. 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4"/>
              </a:rPr>
              <a:t>https://anr248.medium.com/statistical-learning-theory-hoeffdings-inequality-derivation-simulation-e3a97100d147</a:t>
            </a:r>
            <a:endParaRPr lang="de-DE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72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92F7-0731-6D11-8E95-76FCBB86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E883-5E6B-3726-D87D-BD62A633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– </a:t>
            </a:r>
            <a:r>
              <a:rPr lang="en-US" dirty="0" err="1"/>
              <a:t>Analysing</a:t>
            </a:r>
            <a:r>
              <a:rPr lang="en-US" dirty="0"/>
              <a:t> High-Dimensional Data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CA8023-537F-9805-B77C-BC87C5C8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FD7DE-BBAF-FDA4-7177-C96E284563C0}"/>
              </a:ext>
            </a:extLst>
          </p:cNvPr>
          <p:cNvSpPr txBox="1"/>
          <p:nvPr/>
        </p:nvSpPr>
        <p:spPr>
          <a:xfrm>
            <a:off x="77521" y="1045468"/>
            <a:ext cx="121144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Topics in Mathematics of Data Science. (A. S. Bandeira, A. Singer, T. </a:t>
            </a:r>
            <a:r>
              <a:rPr lang="en-GB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Strohmer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).</a:t>
            </a:r>
            <a:b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2"/>
              </a:rPr>
              <a:t>https://people.math.ethz.ch/~abandeira//BandeiraSingerStrohmer-MDS-draft.pdf</a:t>
            </a:r>
            <a:endParaRPr lang="de-DE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Nick Harvey.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Lecture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notes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„CPSC 536N: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Randomized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Algorithms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“.</a:t>
            </a:r>
            <a:b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https://www.cs.ubc.ca/~nickhar/W12/Lecture6Notes.pdf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(University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of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British Columbia)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Ulrike von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Luxburg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“A Tutorial on Spectral Clustering”.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4"/>
              </a:rPr>
              <a:t>https://people.csail.mit.edu/dsontag/courses/ml14/notes/Luxburg07_tutorial_spectral_clustering.pdf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(Max Planck Institute for Biological Cybernetics)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33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E825-2465-1669-A2FA-CDBB786B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– Learning from Structured Data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FFCF2-7029-4510-4E33-4A5C4734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FACA2-F130-DE63-6460-1BA7DEA50F74}"/>
              </a:ext>
            </a:extLst>
          </p:cNvPr>
          <p:cNvSpPr txBox="1"/>
          <p:nvPr/>
        </p:nvSpPr>
        <p:spPr>
          <a:xfrm>
            <a:off x="77521" y="1045468"/>
            <a:ext cx="1211448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Topics in Mathematics of Data Science. (A. S. Bandeira, A. Singer, T. </a:t>
            </a:r>
            <a:r>
              <a:rPr lang="en-GB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Strohmer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).</a:t>
            </a:r>
            <a:b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2"/>
              </a:rPr>
              <a:t>https://people.math.ethz.ch/~abandeira//BandeiraSingerStrohmer-MDS-draft.pdf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Yehuda Koren, Robert Bell, Chris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Volinksy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Matrix Factorization Techniques for Recommender Systems. IEEE Computer, Vol. 42, Issue 8. DOI: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https://doi.org/10.1109/MC.2009.263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Blog post by Simon Funk.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LID4096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4"/>
              </a:rPr>
              <a:t>https://sifter.org/~simon/journal/20061211.html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Daniel D. Lee &amp; H. Sebastian Seung.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Algorithms for Non-negative Matrix Factorization.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NeurIPS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2000. 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5"/>
              </a:rPr>
              <a:t>https://papers.nips.cc/paper/1861-algorithms-for-non-negative-matrix-factorization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B. Perozzi, R. Al-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Rfou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S.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Skiena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</a:t>
            </a:r>
            <a:r>
              <a:rPr lang="en-GB" sz="1500" i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DeepWalk</a:t>
            </a:r>
            <a:r>
              <a:rPr lang="en-GB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 Online Learning of Social Representations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DOI: 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6"/>
              </a:rPr>
              <a:t>https://doi.org/10.48550/arXiv.1403.6652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Omer Levy, Yoav Goldberg. </a:t>
            </a:r>
            <a:r>
              <a:rPr lang="en-GB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Neural World Embedding as Implicit Matrix Factorization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</a:t>
            </a:r>
            <a:r>
              <a:rPr lang="en-GB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NeurIPS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2014. 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7"/>
              </a:rPr>
              <a:t>https://papers.nips.cc/paper_files/paper/2014/hash/b78666971ceae55a8e87efb7cbfd9ad4-Abstract.html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J. Qiu et al. </a:t>
            </a:r>
            <a:r>
              <a:rPr lang="en-GB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Network Embedding as Matrix Factorization: Unifying </a:t>
            </a:r>
            <a:r>
              <a:rPr lang="en-GB" sz="1500" i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DeepWalk</a:t>
            </a:r>
            <a:r>
              <a:rPr lang="en-GB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LINE, PTE, and node2vec. 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DOI: 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8"/>
              </a:rPr>
              <a:t>https://doi.org/10.48550/arXiv.1710.02971</a:t>
            </a:r>
            <a:r>
              <a:rPr lang="en-GB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endParaRPr lang="en-US" sz="15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Daniel Ruffinelli, Samuel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Broscheit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Rainer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Gemulla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You CAN Teach an Old Dog New Tricks! On Training Knowledge Graph Embeddings. 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ICLR 2020. 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9"/>
              </a:rPr>
              <a:t>http://www.openreview.net/pdf?id=BkxSmlBFvr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Keyulu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Xu, Weihua Hu, Jure Leskovec, Stefanie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Jegelka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How Powerful are Graph Neural Networks? ICLR 2019. DOI: 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10"/>
              </a:rPr>
              <a:t>https://doi.org/10.48550/arXiv.1810.00826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Pan Li &amp; Jure Leskovec.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Graph Neural Networks – Foundations, Frontiers,  and Applications (Chapter 5).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  <a:hlinkClick r:id="rId11"/>
              </a:rPr>
              <a:t>https://graph-neural-networks.github.io/static/file/chapter5.pdf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endParaRPr lang="LID4096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2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1A59-D5BD-B65C-9C1B-B71A4BFF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– Function Approximation and Supervised Learning 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25382-00E0-85D2-055E-1C275309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F764B-E9A5-529E-6ACC-59803EA7CCA7}"/>
              </a:ext>
            </a:extLst>
          </p:cNvPr>
          <p:cNvSpPr txBox="1"/>
          <p:nvPr/>
        </p:nvSpPr>
        <p:spPr>
          <a:xfrm>
            <a:off x="77521" y="1045468"/>
            <a:ext cx="121144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Philipp Petersen.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Lecture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notes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on „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of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Machine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Learning“, Vienna 2025.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Philipp Petersen &amp; Jakob Zech.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Mathematical theory of deep learning. </a:t>
            </a:r>
            <a:b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https://doi.org/10.48550/arXiv.2407.18384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Chinmay Hegde. Lecture notes on “Foundations of Deep Learning”, NYU 2022.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4"/>
              </a:rPr>
              <a:t>https://chinmayhegde.github.io/fodl/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5"/>
              </a:rPr>
              <a:t>https://nonagon.org/ExLibris/bernstein-proves-weierstrass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Anton R.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Schep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</a:t>
            </a:r>
            <a:r>
              <a:rPr lang="en-US" sz="1500" i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’ proof of the </a:t>
            </a:r>
            <a:r>
              <a:rPr lang="en-US" sz="1500" i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approximation theorem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6"/>
              </a:rPr>
              <a:t>https://people.math.sc.edu/schep/weierstrass.pdf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Steven Buchanan.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 cute proof of </a:t>
            </a:r>
            <a:r>
              <a:rPr lang="en-US" sz="1500" i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approximation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7"/>
              </a:rPr>
              <a:t>https://stevenbuchanan.net/posts/weierstrass-approximation/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85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4CE0-FB76-4726-11CD-7765E03D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0197-0450-8B96-B304-2FF66B4E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– Deep Neural Networks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AC6B5-1D06-E53A-9A83-C67807C2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87D41-E050-610A-0B2A-7A04EDE36DC3}"/>
              </a:ext>
            </a:extLst>
          </p:cNvPr>
          <p:cNvSpPr txBox="1"/>
          <p:nvPr/>
        </p:nvSpPr>
        <p:spPr>
          <a:xfrm>
            <a:off x="77521" y="1045468"/>
            <a:ext cx="1211448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Philipp Petersen.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Lecture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notes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on „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of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Machine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Learning“, Vienna 2025.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Philipp Petersen &amp; Jakob Zech.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Mathematical theory of deep learning. </a:t>
            </a:r>
            <a:b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https://doi.org/10.48550/arXiv.2407.18384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Chinmay Hegde. Lecture notes on “Foundations of Deep Learning”, NYU 2022.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4"/>
              </a:rPr>
              <a:t>https://chinmayhegde.github.io/fodl/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Matus </a:t>
            </a:r>
            <a:r>
              <a:rPr lang="en-US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Telgarsky</a:t>
            </a: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 Lecture notes on “Deep learning theory”.</a:t>
            </a:r>
            <a:b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5"/>
              </a:rPr>
              <a:t>https://mjt.cs.illinois.edu/dlt/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9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859A-4DFF-B579-826B-53D7B8CD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A228-2337-C20B-4945-4719C7E8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– Generalization Bounds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E43960-269A-5522-EFAD-5D4D0EF0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01D98-C264-EF32-ED6F-9EBB1CF85BD2}"/>
              </a:ext>
            </a:extLst>
          </p:cNvPr>
          <p:cNvSpPr txBox="1"/>
          <p:nvPr/>
        </p:nvSpPr>
        <p:spPr>
          <a:xfrm>
            <a:off x="77521" y="1045468"/>
            <a:ext cx="12114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Prof. Philipp Petersen.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Lecture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notes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on „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of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15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Machine</a:t>
            </a:r>
            <a:r>
              <a:rPr lang="de-DE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Learning“, Vienna 2025.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Philipp Petersen &amp; Jakob Zech. </a:t>
            </a:r>
            <a: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Mathematical theory of deep learning. </a:t>
            </a:r>
            <a:br>
              <a:rPr lang="en-US" sz="15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500" dirty="0">
                <a:latin typeface="Beaufort for LOL" panose="02020503050000020004" pitchFamily="18" charset="0"/>
                <a:cs typeface="Beaufort for LOL" panose="02020503050000020004" pitchFamily="18" charset="0"/>
                <a:hlinkClick r:id="rId3"/>
              </a:rPr>
              <a:t>https://doi.org/10.48550/arXiv.2407.18384</a:t>
            </a: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  <a:p>
            <a:pPr>
              <a:spcAft>
                <a:spcPts val="1200"/>
              </a:spcAft>
            </a:pPr>
            <a:endParaRPr lang="en-AT" sz="15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784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fd19df41-1c3a-4f3e-9871-efd85cae9f77"/>
  <p:tag name="SLIDO_EVENT_SECTION_UUID" val="b17c8812-b3d9-4142-bb6a-faa3926885db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 cap="rnd" cmpd="sng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848</Words>
  <Application>Microsoft Office PowerPoint</Application>
  <PresentationFormat>Widescreen</PresentationFormat>
  <Paragraphs>60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Beaufort for LOL</vt:lpstr>
      <vt:lpstr>Beaufort for LOL</vt:lpstr>
      <vt:lpstr>Calibri</vt:lpstr>
      <vt:lpstr>Calibri Light</vt:lpstr>
      <vt:lpstr>Wingdings 2</vt:lpstr>
      <vt:lpstr>HDOfficeLightV0</vt:lpstr>
      <vt:lpstr>PowerPoint Presentation</vt:lpstr>
      <vt:lpstr>1 – Foundations of Probability Theory</vt:lpstr>
      <vt:lpstr>2 – Analysing High-Dimensional Data</vt:lpstr>
      <vt:lpstr>3 – Learning from Structured Data</vt:lpstr>
      <vt:lpstr>4 – Function Approximation and Supervised Learning </vt:lpstr>
      <vt:lpstr>5 – Deep Neural Networks</vt:lpstr>
      <vt:lpstr>6 – Generalization Bounds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Dold</dc:creator>
  <cp:lastModifiedBy>Dominik Dold</cp:lastModifiedBy>
  <cp:revision>2247</cp:revision>
  <dcterms:created xsi:type="dcterms:W3CDTF">2017-08-27T14:17:57Z</dcterms:created>
  <dcterms:modified xsi:type="dcterms:W3CDTF">2026-01-14T16:00:31Z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2021-06-14T13:58:30Z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019346cb-a4db-4d12-938d-860f2c088c79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  <property fmtid="{D5CDD505-2E9C-101B-9397-08002B2CF9AE}" pid="10" name="SlidoAppVersion">
    <vt:lpwstr>1.5.3.3511</vt:lpwstr>
  </property>
</Properties>
</file>